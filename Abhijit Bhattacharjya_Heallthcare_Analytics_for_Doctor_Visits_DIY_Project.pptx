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5"/>
  </p:notesMasterIdLst>
  <p:handoutMasterIdLst>
    <p:handoutMasterId r:id="rId16"/>
  </p:handoutMasterIdLst>
  <p:sldIdLst>
    <p:sldId id="338" r:id="rId5"/>
    <p:sldId id="327" r:id="rId6"/>
    <p:sldId id="315" r:id="rId7"/>
    <p:sldId id="329" r:id="rId8"/>
    <p:sldId id="302" r:id="rId9"/>
    <p:sldId id="339" r:id="rId10"/>
    <p:sldId id="340" r:id="rId11"/>
    <p:sldId id="341" r:id="rId12"/>
    <p:sldId id="342" r:id="rId13"/>
    <p:sldId id="30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6" d="100"/>
          <a:sy n="66" d="100"/>
        </p:scale>
        <p:origin x="588" y="4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bhijit384/Healthcare_Analytics_for_Doctor_Visits"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abhijit384/Healthcare_Analytics_for_Doctor_Visits" TargetMode="External"/><Relationship Id="rId7"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abhijit384/Healthcare_Analytics_for_Doctor_Visits" TargetMode="External"/><Relationship Id="rId7"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ithub.com/abhijit384/Healthcare_Analytics_for_Doctor_Visits" TargetMode="External"/><Relationship Id="rId7"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553777" y="3687510"/>
            <a:ext cx="6275672" cy="861497"/>
          </a:xfrm>
        </p:spPr>
        <p:txBody>
          <a:bodyPr>
            <a:noAutofit/>
          </a:bodyPr>
          <a:lstStyle/>
          <a:p>
            <a:r>
              <a:rPr lang="en-US" sz="2800" b="0" dirty="0">
                <a:solidFill>
                  <a:schemeClr val="tx1"/>
                </a:solidFill>
              </a:rPr>
              <a:t>Student Name - Abhijit Bhattacharjya</a:t>
            </a:r>
            <a:endParaRPr lang="en-IN" sz="28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971780"/>
          </a:xfrm>
        </p:spPr>
        <p:txBody>
          <a:bodyPr>
            <a:normAutofit fontScale="90000"/>
          </a:bodyPr>
          <a:lstStyle/>
          <a:p>
            <a:r>
              <a:rPr lang="en-GB" sz="3200" dirty="0"/>
              <a:t>Project Title - </a:t>
            </a:r>
            <a:r>
              <a:rPr lang="en-US" sz="3200" dirty="0">
                <a:latin typeface="Georgia" panose="02040502050405020303" pitchFamily="18" charset="0"/>
              </a:rPr>
              <a:t>Healthcare Analytics for Doctor Visits</a:t>
            </a:r>
            <a:endParaRPr lang="en-IN" sz="3200" dirty="0">
              <a:latin typeface="Georgia" panose="02040502050405020303" pitchFamily="18"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705FF0EB-00D0-4309-CCB5-9D8791CCEFA7}"/>
              </a:ext>
            </a:extLst>
          </p:cNvPr>
          <p:cNvSpPr txBox="1"/>
          <p:nvPr/>
        </p:nvSpPr>
        <p:spPr>
          <a:xfrm>
            <a:off x="3780332" y="4627048"/>
            <a:ext cx="8387168" cy="523220"/>
          </a:xfrm>
          <a:prstGeom prst="rect">
            <a:avLst/>
          </a:prstGeom>
          <a:noFill/>
        </p:spPr>
        <p:txBody>
          <a:bodyPr wrap="none" rtlCol="0">
            <a:spAutoFit/>
          </a:bodyPr>
          <a:lstStyle/>
          <a:p>
            <a:r>
              <a:rPr lang="en-IN" sz="2800" dirty="0"/>
              <a:t>AICTE STUDENT ID - STU6a5e32203a7001784558112</a:t>
            </a:r>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70105" y="1509796"/>
            <a:ext cx="6949204" cy="4432027"/>
          </a:xfrm>
        </p:spPr>
        <p:txBody>
          <a:bodyPr>
            <a:noAutofit/>
          </a:bodyPr>
          <a:lstStyle/>
          <a:p>
            <a:pPr marL="0" indent="0">
              <a:lnSpc>
                <a:spcPct val="150000"/>
              </a:lnSpc>
              <a:buNone/>
            </a:pPr>
            <a:r>
              <a:rPr lang="en-US" dirty="0"/>
              <a:t>Doctor-visit patterns can vary across demographic characteristics, health conditions, illness levels, chronic conditions, and healthcare-support factors. However, raw healthcare data does not clearly show how these factors are related to the frequency of doctor visits. The problem is to analyze the given healthcare dataset and identify meaningful patterns, relationships, and differences in doctor visits across different population and health-related groups using data analytics and visualization techniques.</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2682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477954"/>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73AB0206-0698-D2CE-8C8D-D1FF7E255A5C}"/>
              </a:ext>
            </a:extLst>
          </p:cNvPr>
          <p:cNvSpPr txBox="1"/>
          <p:nvPr/>
        </p:nvSpPr>
        <p:spPr>
          <a:xfrm>
            <a:off x="858154" y="1597624"/>
            <a:ext cx="6582174" cy="4652492"/>
          </a:xfrm>
          <a:prstGeom prst="rect">
            <a:avLst/>
          </a:prstGeom>
          <a:noFill/>
        </p:spPr>
        <p:txBody>
          <a:bodyPr wrap="square">
            <a:spAutoFit/>
          </a:bodyPr>
          <a:lstStyle/>
          <a:p>
            <a:pPr indent="-457200">
              <a:lnSpc>
                <a:spcPct val="150000"/>
              </a:lnSpc>
              <a:spcBef>
                <a:spcPts val="1000"/>
              </a:spcBef>
            </a:pPr>
            <a:r>
              <a:rPr lang="en-US" sz="2000" dirty="0"/>
              <a:t>This project analyzes the Healthcare Analytics for Doctor Visits dataset using Python-based data analytics. The analysis examines doctor-visit patterns across gender, age, income level, illness, reduced activity, health status, chronic conditions, and healthcare-support factors. The project uses data cleaning, descriptive statistics, univariate, bivariate and multivariate analysis, correlation analysis, and data visualization to identify meaningful patterns and relationships in doctor visits.</a:t>
            </a:r>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817611" y="1679258"/>
            <a:ext cx="7904481" cy="3990023"/>
          </a:xfrm>
        </p:spPr>
        <p:txBody>
          <a:bodyPr>
            <a:noAutofit/>
          </a:bodyPr>
          <a:lstStyle/>
          <a:p>
            <a:pPr algn="just">
              <a:lnSpc>
                <a:spcPct val="150000"/>
              </a:lnSpc>
            </a:pPr>
            <a:r>
              <a:rPr lang="en-US" dirty="0"/>
              <a:t>Healthcare Administrators</a:t>
            </a:r>
          </a:p>
          <a:p>
            <a:pPr algn="just">
              <a:lnSpc>
                <a:spcPct val="150000"/>
              </a:lnSpc>
            </a:pPr>
            <a:r>
              <a:rPr lang="en-US" dirty="0"/>
              <a:t>Doctors and Healthcare Professionals </a:t>
            </a:r>
          </a:p>
          <a:p>
            <a:pPr algn="just">
              <a:lnSpc>
                <a:spcPct val="150000"/>
              </a:lnSpc>
            </a:pPr>
            <a:r>
              <a:rPr lang="en-US" dirty="0"/>
              <a:t>Public Health Researchers </a:t>
            </a:r>
          </a:p>
          <a:p>
            <a:pPr algn="just">
              <a:lnSpc>
                <a:spcPct val="150000"/>
              </a:lnSpc>
            </a:pPr>
            <a:r>
              <a:rPr lang="en-US" dirty="0"/>
              <a:t>Healthcare Planners </a:t>
            </a:r>
          </a:p>
          <a:p>
            <a:pPr algn="just">
              <a:lnSpc>
                <a:spcPct val="150000"/>
              </a:lnSpc>
            </a:pPr>
            <a:r>
              <a:rPr lang="en-US" dirty="0"/>
              <a:t>Government Health Departments </a:t>
            </a:r>
          </a:p>
          <a:p>
            <a:pPr algn="just">
              <a:lnSpc>
                <a:spcPct val="150000"/>
              </a:lnSpc>
            </a:pPr>
            <a:r>
              <a:rPr lang="en-US" dirty="0"/>
              <a:t>Data Analysts </a:t>
            </a:r>
          </a:p>
          <a:p>
            <a:pPr algn="just">
              <a:lnSpc>
                <a:spcPct val="150000"/>
              </a:lnSpc>
            </a:pPr>
            <a:r>
              <a:rPr lang="en-US" dirty="0"/>
              <a:t>Healthcare Organizations / Hospitals</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914400" y="1167013"/>
            <a:ext cx="10010274" cy="6234814"/>
          </a:xfrm>
        </p:spPr>
        <p:txBody>
          <a:bodyPr>
            <a:noAutofit/>
          </a:bodyPr>
          <a:lstStyle/>
          <a:p>
            <a:pPr lvl="1">
              <a:lnSpc>
                <a:spcPct val="150000"/>
              </a:lnSpc>
            </a:pPr>
            <a:r>
              <a:rPr lang="en-IN" sz="1700" b="1" dirty="0">
                <a:latin typeface="Georgia" panose="02040502050405020303" pitchFamily="18" charset="0"/>
              </a:rPr>
              <a:t>Programming Language</a:t>
            </a:r>
            <a:r>
              <a:rPr lang="en-IN" sz="1700" dirty="0"/>
              <a:t>: Python </a:t>
            </a:r>
          </a:p>
          <a:p>
            <a:pPr lvl="1">
              <a:lnSpc>
                <a:spcPct val="150000"/>
              </a:lnSpc>
            </a:pPr>
            <a:r>
              <a:rPr lang="en-IN" sz="1700" b="1" dirty="0">
                <a:latin typeface="Georgia" panose="02040502050405020303" pitchFamily="18" charset="0"/>
              </a:rPr>
              <a:t>Libraries</a:t>
            </a:r>
            <a:r>
              <a:rPr lang="en-IN" sz="1700" dirty="0"/>
              <a:t>: Pandas, NumPy, Matplotlib, Seaborn </a:t>
            </a:r>
          </a:p>
          <a:p>
            <a:pPr lvl="1">
              <a:lnSpc>
                <a:spcPct val="150000"/>
              </a:lnSpc>
            </a:pPr>
            <a:r>
              <a:rPr lang="en-IN" sz="1700" b="1" dirty="0">
                <a:latin typeface="Georgia" panose="02040502050405020303" pitchFamily="18" charset="0"/>
              </a:rPr>
              <a:t>Platform</a:t>
            </a:r>
            <a:r>
              <a:rPr lang="en-IN" sz="1700" dirty="0"/>
              <a:t>: Google </a:t>
            </a:r>
            <a:r>
              <a:rPr lang="en-IN" sz="1700" dirty="0" err="1"/>
              <a:t>Colab</a:t>
            </a:r>
            <a:r>
              <a:rPr lang="en-IN" sz="1700" dirty="0"/>
              <a:t> </a:t>
            </a:r>
          </a:p>
          <a:p>
            <a:pPr lvl="1">
              <a:lnSpc>
                <a:spcPct val="150000"/>
              </a:lnSpc>
            </a:pPr>
            <a:r>
              <a:rPr lang="en-IN" sz="1700" b="1" dirty="0">
                <a:latin typeface="Georgia" panose="02040502050405020303" pitchFamily="18" charset="0"/>
              </a:rPr>
              <a:t>Techniques</a:t>
            </a:r>
            <a:r>
              <a:rPr lang="en-IN" sz="1700" dirty="0"/>
              <a:t>: </a:t>
            </a:r>
          </a:p>
          <a:p>
            <a:pPr lvl="2">
              <a:lnSpc>
                <a:spcPct val="150000"/>
              </a:lnSpc>
              <a:buFont typeface="Arial" panose="020B0604020202020204" pitchFamily="34" charset="0"/>
              <a:buChar char="•"/>
            </a:pPr>
            <a:r>
              <a:rPr lang="en-IN" sz="1700" dirty="0"/>
              <a:t>Data Cleaning and Preparation</a:t>
            </a:r>
          </a:p>
          <a:p>
            <a:pPr lvl="2">
              <a:lnSpc>
                <a:spcPct val="150000"/>
              </a:lnSpc>
              <a:buFont typeface="Arial" panose="020B0604020202020204" pitchFamily="34" charset="0"/>
              <a:buChar char="•"/>
            </a:pPr>
            <a:r>
              <a:rPr lang="en-IN" sz="1700" dirty="0"/>
              <a:t> Descriptive Statistics</a:t>
            </a:r>
          </a:p>
          <a:p>
            <a:pPr lvl="2">
              <a:lnSpc>
                <a:spcPct val="150000"/>
              </a:lnSpc>
              <a:buFont typeface="Arial" panose="020B0604020202020204" pitchFamily="34" charset="0"/>
              <a:buChar char="•"/>
            </a:pPr>
            <a:r>
              <a:rPr lang="en-IN" sz="1700" dirty="0"/>
              <a:t> Univariate Analysis</a:t>
            </a:r>
          </a:p>
          <a:p>
            <a:pPr lvl="2">
              <a:lnSpc>
                <a:spcPct val="150000"/>
              </a:lnSpc>
              <a:buFont typeface="Arial" panose="020B0604020202020204" pitchFamily="34" charset="0"/>
              <a:buChar char="•"/>
            </a:pPr>
            <a:r>
              <a:rPr lang="en-IN" sz="1700" dirty="0"/>
              <a:t> Bivariate Analysis</a:t>
            </a:r>
          </a:p>
          <a:p>
            <a:pPr lvl="2">
              <a:lnSpc>
                <a:spcPct val="150000"/>
              </a:lnSpc>
              <a:buFont typeface="Arial" panose="020B0604020202020204" pitchFamily="34" charset="0"/>
              <a:buChar char="•"/>
            </a:pPr>
            <a:r>
              <a:rPr lang="en-IN" sz="1700" dirty="0"/>
              <a:t> Multivariate Analysis</a:t>
            </a:r>
          </a:p>
          <a:p>
            <a:pPr lvl="2">
              <a:lnSpc>
                <a:spcPct val="150000"/>
              </a:lnSpc>
              <a:buFont typeface="Arial" panose="020B0604020202020204" pitchFamily="34" charset="0"/>
              <a:buChar char="•"/>
            </a:pPr>
            <a:r>
              <a:rPr lang="en-IN" sz="1700" dirty="0"/>
              <a:t> Correlation Analysis</a:t>
            </a:r>
          </a:p>
          <a:p>
            <a:pPr lvl="2">
              <a:lnSpc>
                <a:spcPct val="150000"/>
              </a:lnSpc>
              <a:buFont typeface="Arial" panose="020B0604020202020204" pitchFamily="34" charset="0"/>
              <a:buChar char="•"/>
            </a:pPr>
            <a:r>
              <a:rPr lang="en-IN" sz="1700" dirty="0"/>
              <a:t> Data Visualization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7">
                                            <p:txEl>
                                              <p:pRg st="4" end="4"/>
                                            </p:txEl>
                                          </p:spTgt>
                                        </p:tgtEl>
                                        <p:attrNameLst>
                                          <p:attrName>style.visibility</p:attrName>
                                        </p:attrNameLst>
                                      </p:cBhvr>
                                      <p:to>
                                        <p:strVal val="visible"/>
                                      </p:to>
                                    </p:set>
                                    <p:animEffect transition="in" filter="fade">
                                      <p:cBhvr>
                                        <p:cTn id="40" dur="1000"/>
                                        <p:tgtEl>
                                          <p:spTgt spid="7">
                                            <p:txEl>
                                              <p:pRg st="4" end="4"/>
                                            </p:txEl>
                                          </p:spTgt>
                                        </p:tgtEl>
                                      </p:cBhvr>
                                    </p:animEffect>
                                    <p:anim calcmode="lin" valueType="num">
                                      <p:cBhvr>
                                        <p:cTn id="41"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7">
                                            <p:txEl>
                                              <p:pRg st="5" end="5"/>
                                            </p:txEl>
                                          </p:spTgt>
                                        </p:tgtEl>
                                        <p:attrNameLst>
                                          <p:attrName>style.visibility</p:attrName>
                                        </p:attrNameLst>
                                      </p:cBhvr>
                                      <p:to>
                                        <p:strVal val="visible"/>
                                      </p:to>
                                    </p:set>
                                    <p:animEffect transition="in" filter="fade">
                                      <p:cBhvr>
                                        <p:cTn id="45" dur="1000"/>
                                        <p:tgtEl>
                                          <p:spTgt spid="7">
                                            <p:txEl>
                                              <p:pRg st="5" end="5"/>
                                            </p:txEl>
                                          </p:spTgt>
                                        </p:tgtEl>
                                      </p:cBhvr>
                                    </p:animEffect>
                                    <p:anim calcmode="lin" valueType="num">
                                      <p:cBhvr>
                                        <p:cTn id="46"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7"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7">
                                            <p:txEl>
                                              <p:pRg st="6" end="6"/>
                                            </p:txEl>
                                          </p:spTgt>
                                        </p:tgtEl>
                                        <p:attrNameLst>
                                          <p:attrName>style.visibility</p:attrName>
                                        </p:attrNameLst>
                                      </p:cBhvr>
                                      <p:to>
                                        <p:strVal val="visible"/>
                                      </p:to>
                                    </p:set>
                                    <p:animEffect transition="in" filter="fade">
                                      <p:cBhvr>
                                        <p:cTn id="50" dur="1000"/>
                                        <p:tgtEl>
                                          <p:spTgt spid="7">
                                            <p:txEl>
                                              <p:pRg st="6" end="6"/>
                                            </p:txEl>
                                          </p:spTgt>
                                        </p:tgtEl>
                                      </p:cBhvr>
                                    </p:animEffect>
                                    <p:anim calcmode="lin" valueType="num">
                                      <p:cBhvr>
                                        <p:cTn id="51"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2" dur="1000" fill="hold"/>
                                        <p:tgtEl>
                                          <p:spTgt spid="7">
                                            <p:txEl>
                                              <p:pRg st="6" end="6"/>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7">
                                            <p:txEl>
                                              <p:pRg st="7" end="7"/>
                                            </p:txEl>
                                          </p:spTgt>
                                        </p:tgtEl>
                                        <p:attrNameLst>
                                          <p:attrName>style.visibility</p:attrName>
                                        </p:attrNameLst>
                                      </p:cBhvr>
                                      <p:to>
                                        <p:strVal val="visible"/>
                                      </p:to>
                                    </p:set>
                                    <p:animEffect transition="in" filter="fade">
                                      <p:cBhvr>
                                        <p:cTn id="55" dur="1000"/>
                                        <p:tgtEl>
                                          <p:spTgt spid="7">
                                            <p:txEl>
                                              <p:pRg st="7" end="7"/>
                                            </p:txEl>
                                          </p:spTgt>
                                        </p:tgtEl>
                                      </p:cBhvr>
                                    </p:animEffect>
                                    <p:anim calcmode="lin" valueType="num">
                                      <p:cBhvr>
                                        <p:cTn id="56"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7">
                                            <p:txEl>
                                              <p:pRg st="8" end="8"/>
                                            </p:txEl>
                                          </p:spTgt>
                                        </p:tgtEl>
                                        <p:attrNameLst>
                                          <p:attrName>style.visibility</p:attrName>
                                        </p:attrNameLst>
                                      </p:cBhvr>
                                      <p:to>
                                        <p:strVal val="visible"/>
                                      </p:to>
                                    </p:set>
                                    <p:animEffect transition="in" filter="fade">
                                      <p:cBhvr>
                                        <p:cTn id="60" dur="1000"/>
                                        <p:tgtEl>
                                          <p:spTgt spid="7">
                                            <p:txEl>
                                              <p:pRg st="8" end="8"/>
                                            </p:txEl>
                                          </p:spTgt>
                                        </p:tgtEl>
                                      </p:cBhvr>
                                    </p:animEffect>
                                    <p:anim calcmode="lin" valueType="num">
                                      <p:cBhvr>
                                        <p:cTn id="6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2" dur="1000" fill="hold"/>
                                        <p:tgtEl>
                                          <p:spTgt spid="7">
                                            <p:txEl>
                                              <p:pRg st="8" end="8"/>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7">
                                            <p:txEl>
                                              <p:pRg st="9" end="9"/>
                                            </p:txEl>
                                          </p:spTgt>
                                        </p:tgtEl>
                                        <p:attrNameLst>
                                          <p:attrName>style.visibility</p:attrName>
                                        </p:attrNameLst>
                                      </p:cBhvr>
                                      <p:to>
                                        <p:strVal val="visible"/>
                                      </p:to>
                                    </p:set>
                                    <p:animEffect transition="in" filter="fade">
                                      <p:cBhvr>
                                        <p:cTn id="65" dur="1000"/>
                                        <p:tgtEl>
                                          <p:spTgt spid="7">
                                            <p:txEl>
                                              <p:pRg st="9" end="9"/>
                                            </p:txEl>
                                          </p:spTgt>
                                        </p:tgtEl>
                                      </p:cBhvr>
                                    </p:animEffect>
                                    <p:anim calcmode="lin" valueType="num">
                                      <p:cBhvr>
                                        <p:cTn id="66"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7" dur="1000" fill="hold"/>
                                        <p:tgtEl>
                                          <p:spTgt spid="7">
                                            <p:txEl>
                                              <p:pRg st="9" end="9"/>
                                            </p:txEl>
                                          </p:spTgt>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7">
                                            <p:txEl>
                                              <p:pRg st="10" end="10"/>
                                            </p:txEl>
                                          </p:spTgt>
                                        </p:tgtEl>
                                        <p:attrNameLst>
                                          <p:attrName>style.visibility</p:attrName>
                                        </p:attrNameLst>
                                      </p:cBhvr>
                                      <p:to>
                                        <p:strVal val="visible"/>
                                      </p:to>
                                    </p:set>
                                    <p:animEffect transition="in" filter="fade">
                                      <p:cBhvr>
                                        <p:cTn id="70" dur="1000"/>
                                        <p:tgtEl>
                                          <p:spTgt spid="7">
                                            <p:txEl>
                                              <p:pRg st="10" end="10"/>
                                            </p:txEl>
                                          </p:spTgt>
                                        </p:tgtEl>
                                      </p:cBhvr>
                                    </p:animEffect>
                                    <p:anim calcmode="lin" valueType="num">
                                      <p:cBhvr>
                                        <p:cTn id="71"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60" y="6056421"/>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GitHub Link</a:t>
            </a:r>
            <a:endParaRPr lang="en-IN" b="0" u="sng" dirty="0">
              <a:solidFill>
                <a:srgbClr val="0070C0"/>
              </a:solidFill>
            </a:endParaRPr>
          </a:p>
        </p:txBody>
      </p:sp>
      <p:pic>
        <p:nvPicPr>
          <p:cNvPr id="6" name="Picture 5">
            <a:extLst>
              <a:ext uri="{FF2B5EF4-FFF2-40B4-BE49-F238E27FC236}">
                <a16:creationId xmlns:a16="http://schemas.microsoft.com/office/drawing/2014/main" id="{0346ACA0-C973-4859-4BB9-6C16DBB1F23C}"/>
              </a:ext>
            </a:extLst>
          </p:cNvPr>
          <p:cNvPicPr>
            <a:picLocks noChangeAspect="1"/>
          </p:cNvPicPr>
          <p:nvPr/>
        </p:nvPicPr>
        <p:blipFill>
          <a:blip r:embed="rId4"/>
          <a:stretch>
            <a:fillRect/>
          </a:stretch>
        </p:blipFill>
        <p:spPr>
          <a:xfrm>
            <a:off x="246008" y="1111741"/>
            <a:ext cx="6317189" cy="5039752"/>
          </a:xfrm>
          <a:prstGeom prst="rect">
            <a:avLst/>
          </a:prstGeom>
        </p:spPr>
      </p:pic>
      <p:pic>
        <p:nvPicPr>
          <p:cNvPr id="11" name="Picture 10">
            <a:extLst>
              <a:ext uri="{FF2B5EF4-FFF2-40B4-BE49-F238E27FC236}">
                <a16:creationId xmlns:a16="http://schemas.microsoft.com/office/drawing/2014/main" id="{20097DE9-2A10-DD7D-8A83-0E467DA56AA0}"/>
              </a:ext>
            </a:extLst>
          </p:cNvPr>
          <p:cNvPicPr>
            <a:picLocks noChangeAspect="1"/>
          </p:cNvPicPr>
          <p:nvPr/>
        </p:nvPicPr>
        <p:blipFill>
          <a:blip r:embed="rId5"/>
          <a:stretch>
            <a:fillRect/>
          </a:stretch>
        </p:blipFill>
        <p:spPr>
          <a:xfrm>
            <a:off x="6771128" y="1090454"/>
            <a:ext cx="5260452" cy="5012133"/>
          </a:xfrm>
          <a:prstGeom prst="rect">
            <a:avLst/>
          </a:prstGeom>
        </p:spPr>
      </p:pic>
      <p:sp>
        <p:nvSpPr>
          <p:cNvPr id="13" name="TextBox 12">
            <a:extLst>
              <a:ext uri="{FF2B5EF4-FFF2-40B4-BE49-F238E27FC236}">
                <a16:creationId xmlns:a16="http://schemas.microsoft.com/office/drawing/2014/main" id="{1EE19D5C-6433-2C5F-2D1C-D5ECD1512E6F}"/>
              </a:ext>
            </a:extLst>
          </p:cNvPr>
          <p:cNvSpPr txBox="1"/>
          <p:nvPr/>
        </p:nvSpPr>
        <p:spPr>
          <a:xfrm>
            <a:off x="2525302" y="6102587"/>
            <a:ext cx="2614589" cy="369332"/>
          </a:xfrm>
          <a:prstGeom prst="rect">
            <a:avLst/>
          </a:prstGeom>
          <a:noFill/>
        </p:spPr>
        <p:txBody>
          <a:bodyPr wrap="square">
            <a:spAutoFit/>
          </a:bodyPr>
          <a:lstStyle/>
          <a:p>
            <a:r>
              <a:rPr lang="en-IN" dirty="0"/>
              <a:t>Univariate Analysis</a:t>
            </a:r>
          </a:p>
        </p:txBody>
      </p:sp>
      <p:sp>
        <p:nvSpPr>
          <p:cNvPr id="15" name="TextBox 14">
            <a:extLst>
              <a:ext uri="{FF2B5EF4-FFF2-40B4-BE49-F238E27FC236}">
                <a16:creationId xmlns:a16="http://schemas.microsoft.com/office/drawing/2014/main" id="{6A112A27-D00A-5173-E2B3-CE6B7E3158E1}"/>
              </a:ext>
            </a:extLst>
          </p:cNvPr>
          <p:cNvSpPr txBox="1"/>
          <p:nvPr/>
        </p:nvSpPr>
        <p:spPr>
          <a:xfrm>
            <a:off x="8563804" y="6102587"/>
            <a:ext cx="2225842" cy="369332"/>
          </a:xfrm>
          <a:prstGeom prst="rect">
            <a:avLst/>
          </a:prstGeom>
          <a:noFill/>
        </p:spPr>
        <p:txBody>
          <a:bodyPr wrap="square">
            <a:spAutoFit/>
          </a:bodyPr>
          <a:lstStyle/>
          <a:p>
            <a:r>
              <a:rPr lang="en-IN" dirty="0"/>
              <a:t>Bivariate Analysis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B13F4-DA15-C041-B591-5DD832BAA8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55ACD1-A7E1-8F87-1E81-3E73C9C11D0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946F646-1B9E-FA1C-0825-306909CECCF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1EC7A25-F08D-A9A2-B339-8A32C1E42BE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FE478CC-7364-51E2-D747-45D243C4FC4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FAF19124-1E82-8327-5ECD-B20A551E7117}"/>
              </a:ext>
            </a:extLst>
          </p:cNvPr>
          <p:cNvSpPr txBox="1">
            <a:spLocks/>
          </p:cNvSpPr>
          <p:nvPr/>
        </p:nvSpPr>
        <p:spPr>
          <a:xfrm>
            <a:off x="422960" y="6056421"/>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rPr>
              <a:t>GitHub</a:t>
            </a:r>
            <a:r>
              <a:rPr lang="en-GB" sz="2000" b="0" u="sng" dirty="0">
                <a:solidFill>
                  <a:srgbClr val="0070C0"/>
                </a:solidFill>
                <a:hlinkClick r:id="rId3">
                  <a:extLst>
                    <a:ext uri="{A12FA001-AC4F-418D-AE19-62706E023703}">
                      <ahyp:hlinkClr xmlns:ahyp="http://schemas.microsoft.com/office/drawing/2018/hyperlinkcolor" val="tx"/>
                    </a:ext>
                  </a:extLst>
                </a:hlinkClick>
              </a:rPr>
              <a:t> Link</a:t>
            </a:r>
            <a:endParaRPr lang="en-IN" b="0" u="sng" dirty="0">
              <a:solidFill>
                <a:srgbClr val="0070C0"/>
              </a:solidFill>
            </a:endParaRPr>
          </a:p>
        </p:txBody>
      </p:sp>
      <p:sp>
        <p:nvSpPr>
          <p:cNvPr id="13" name="TextBox 12">
            <a:extLst>
              <a:ext uri="{FF2B5EF4-FFF2-40B4-BE49-F238E27FC236}">
                <a16:creationId xmlns:a16="http://schemas.microsoft.com/office/drawing/2014/main" id="{DF28DA34-5155-C6BA-8597-E96ECE605EC8}"/>
              </a:ext>
            </a:extLst>
          </p:cNvPr>
          <p:cNvSpPr txBox="1"/>
          <p:nvPr/>
        </p:nvSpPr>
        <p:spPr>
          <a:xfrm>
            <a:off x="2403658" y="6176324"/>
            <a:ext cx="2614589" cy="369332"/>
          </a:xfrm>
          <a:prstGeom prst="rect">
            <a:avLst/>
          </a:prstGeom>
          <a:noFill/>
        </p:spPr>
        <p:txBody>
          <a:bodyPr wrap="square">
            <a:spAutoFit/>
          </a:bodyPr>
          <a:lstStyle/>
          <a:p>
            <a:r>
              <a:rPr lang="en-IN" dirty="0"/>
              <a:t>Multivariate Analysis</a:t>
            </a:r>
          </a:p>
        </p:txBody>
      </p:sp>
      <p:sp>
        <p:nvSpPr>
          <p:cNvPr id="15" name="TextBox 14">
            <a:extLst>
              <a:ext uri="{FF2B5EF4-FFF2-40B4-BE49-F238E27FC236}">
                <a16:creationId xmlns:a16="http://schemas.microsoft.com/office/drawing/2014/main" id="{F729477E-8AFD-3569-C0AF-108BC9AE5C3D}"/>
              </a:ext>
            </a:extLst>
          </p:cNvPr>
          <p:cNvSpPr txBox="1"/>
          <p:nvPr/>
        </p:nvSpPr>
        <p:spPr>
          <a:xfrm>
            <a:off x="8534952" y="6180335"/>
            <a:ext cx="3234088" cy="369332"/>
          </a:xfrm>
          <a:prstGeom prst="rect">
            <a:avLst/>
          </a:prstGeom>
          <a:noFill/>
        </p:spPr>
        <p:txBody>
          <a:bodyPr wrap="square">
            <a:spAutoFit/>
          </a:bodyPr>
          <a:lstStyle/>
          <a:p>
            <a:r>
              <a:rPr lang="en-IN" dirty="0"/>
              <a:t>Chronic Condition Analysis</a:t>
            </a:r>
          </a:p>
        </p:txBody>
      </p:sp>
      <p:pic>
        <p:nvPicPr>
          <p:cNvPr id="2" name="Picture 1">
            <a:extLst>
              <a:ext uri="{FF2B5EF4-FFF2-40B4-BE49-F238E27FC236}">
                <a16:creationId xmlns:a16="http://schemas.microsoft.com/office/drawing/2014/main" id="{960B38A5-2823-0D9E-E4F2-F8CEC4BBFF6D}"/>
              </a:ext>
            </a:extLst>
          </p:cNvPr>
          <p:cNvPicPr>
            <a:picLocks noChangeAspect="1"/>
          </p:cNvPicPr>
          <p:nvPr/>
        </p:nvPicPr>
        <p:blipFill>
          <a:blip r:embed="rId4"/>
          <a:stretch>
            <a:fillRect/>
          </a:stretch>
        </p:blipFill>
        <p:spPr>
          <a:xfrm>
            <a:off x="165039" y="2283414"/>
            <a:ext cx="7524216" cy="3892910"/>
          </a:xfrm>
          <a:prstGeom prst="rect">
            <a:avLst/>
          </a:prstGeom>
        </p:spPr>
      </p:pic>
      <p:pic>
        <p:nvPicPr>
          <p:cNvPr id="3" name="Picture 2">
            <a:extLst>
              <a:ext uri="{FF2B5EF4-FFF2-40B4-BE49-F238E27FC236}">
                <a16:creationId xmlns:a16="http://schemas.microsoft.com/office/drawing/2014/main" id="{DC07B7AF-056D-335C-1E36-88599131536F}"/>
              </a:ext>
            </a:extLst>
          </p:cNvPr>
          <p:cNvPicPr>
            <a:picLocks noChangeAspect="1"/>
          </p:cNvPicPr>
          <p:nvPr/>
        </p:nvPicPr>
        <p:blipFill>
          <a:blip r:embed="rId5"/>
          <a:stretch>
            <a:fillRect/>
          </a:stretch>
        </p:blipFill>
        <p:spPr>
          <a:xfrm>
            <a:off x="7804127" y="2283414"/>
            <a:ext cx="4202449" cy="3892910"/>
          </a:xfrm>
          <a:prstGeom prst="rect">
            <a:avLst/>
          </a:prstGeom>
        </p:spPr>
      </p:pic>
      <p:pic>
        <p:nvPicPr>
          <p:cNvPr id="16" name="Picture 15">
            <a:extLst>
              <a:ext uri="{FF2B5EF4-FFF2-40B4-BE49-F238E27FC236}">
                <a16:creationId xmlns:a16="http://schemas.microsoft.com/office/drawing/2014/main" id="{DA8FFFB2-7A05-99C6-34C1-E63AA8293488}"/>
              </a:ext>
            </a:extLst>
          </p:cNvPr>
          <p:cNvPicPr>
            <a:picLocks noChangeAspect="1"/>
          </p:cNvPicPr>
          <p:nvPr/>
        </p:nvPicPr>
        <p:blipFill>
          <a:blip r:embed="rId6"/>
          <a:stretch>
            <a:fillRect/>
          </a:stretch>
        </p:blipFill>
        <p:spPr>
          <a:xfrm>
            <a:off x="422960" y="1006998"/>
            <a:ext cx="7123246" cy="1276416"/>
          </a:xfrm>
          <a:prstGeom prst="rect">
            <a:avLst/>
          </a:prstGeom>
        </p:spPr>
      </p:pic>
      <p:pic>
        <p:nvPicPr>
          <p:cNvPr id="18" name="Picture 17">
            <a:extLst>
              <a:ext uri="{FF2B5EF4-FFF2-40B4-BE49-F238E27FC236}">
                <a16:creationId xmlns:a16="http://schemas.microsoft.com/office/drawing/2014/main" id="{71B8A958-05BF-651F-4467-7BEB53791AB2}"/>
              </a:ext>
            </a:extLst>
          </p:cNvPr>
          <p:cNvPicPr>
            <a:picLocks noChangeAspect="1"/>
          </p:cNvPicPr>
          <p:nvPr/>
        </p:nvPicPr>
        <p:blipFill>
          <a:blip r:embed="rId7"/>
          <a:stretch>
            <a:fillRect/>
          </a:stretch>
        </p:blipFill>
        <p:spPr>
          <a:xfrm>
            <a:off x="7791233" y="1063601"/>
            <a:ext cx="4202449" cy="1217807"/>
          </a:xfrm>
          <a:prstGeom prst="rect">
            <a:avLst/>
          </a:prstGeom>
        </p:spPr>
      </p:pic>
    </p:spTree>
    <p:extLst>
      <p:ext uri="{BB962C8B-B14F-4D97-AF65-F5344CB8AC3E}">
        <p14:creationId xmlns:p14="http://schemas.microsoft.com/office/powerpoint/2010/main" val="3580719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3B40D-A3EC-9E17-BFA8-E82C6F0B5FF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2B0F0CA-F8FA-FA5B-B895-C78521B7156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6579B37-61AE-6A12-92A7-E2F37221C8C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59D5BA8-49F7-C93D-0CAD-52C0BB5E471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56D411F-B604-F69E-2C68-B3A9525FBFD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DB57BAFB-82F6-2EFB-0FB2-806EA95D03A4}"/>
              </a:ext>
            </a:extLst>
          </p:cNvPr>
          <p:cNvSpPr txBox="1">
            <a:spLocks/>
          </p:cNvSpPr>
          <p:nvPr/>
        </p:nvSpPr>
        <p:spPr>
          <a:xfrm>
            <a:off x="422960" y="6056421"/>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rPr>
              <a:t>GitHub</a:t>
            </a:r>
            <a:r>
              <a:rPr lang="en-GB" sz="2000" b="0" u="sng" dirty="0">
                <a:solidFill>
                  <a:srgbClr val="0070C0"/>
                </a:solidFill>
                <a:hlinkClick r:id="rId3">
                  <a:extLst>
                    <a:ext uri="{A12FA001-AC4F-418D-AE19-62706E023703}">
                      <ahyp:hlinkClr xmlns:ahyp="http://schemas.microsoft.com/office/drawing/2018/hyperlinkcolor" val="tx"/>
                    </a:ext>
                  </a:extLst>
                </a:hlinkClick>
              </a:rPr>
              <a:t> Link</a:t>
            </a:r>
            <a:endParaRPr lang="en-IN" b="0" u="sng" dirty="0">
              <a:solidFill>
                <a:srgbClr val="0070C0"/>
              </a:solidFill>
            </a:endParaRPr>
          </a:p>
        </p:txBody>
      </p:sp>
      <p:pic>
        <p:nvPicPr>
          <p:cNvPr id="2" name="Picture 1">
            <a:extLst>
              <a:ext uri="{FF2B5EF4-FFF2-40B4-BE49-F238E27FC236}">
                <a16:creationId xmlns:a16="http://schemas.microsoft.com/office/drawing/2014/main" id="{8B4EA70E-1903-696E-443E-5BF47D950750}"/>
              </a:ext>
            </a:extLst>
          </p:cNvPr>
          <p:cNvPicPr>
            <a:picLocks noChangeAspect="1"/>
          </p:cNvPicPr>
          <p:nvPr/>
        </p:nvPicPr>
        <p:blipFill>
          <a:blip r:embed="rId4"/>
          <a:stretch>
            <a:fillRect/>
          </a:stretch>
        </p:blipFill>
        <p:spPr>
          <a:xfrm>
            <a:off x="164762" y="1201586"/>
            <a:ext cx="5852712" cy="2791072"/>
          </a:xfrm>
          <a:prstGeom prst="rect">
            <a:avLst/>
          </a:prstGeom>
        </p:spPr>
      </p:pic>
      <p:pic>
        <p:nvPicPr>
          <p:cNvPr id="3" name="Picture 2">
            <a:extLst>
              <a:ext uri="{FF2B5EF4-FFF2-40B4-BE49-F238E27FC236}">
                <a16:creationId xmlns:a16="http://schemas.microsoft.com/office/drawing/2014/main" id="{DC2F5F37-EE0B-7E4D-EB9F-BD4EFB35333B}"/>
              </a:ext>
            </a:extLst>
          </p:cNvPr>
          <p:cNvPicPr>
            <a:picLocks noChangeAspect="1"/>
          </p:cNvPicPr>
          <p:nvPr/>
        </p:nvPicPr>
        <p:blipFill>
          <a:blip r:embed="rId5"/>
          <a:stretch>
            <a:fillRect/>
          </a:stretch>
        </p:blipFill>
        <p:spPr>
          <a:xfrm>
            <a:off x="422960" y="4011312"/>
            <a:ext cx="5488841" cy="2331736"/>
          </a:xfrm>
          <a:prstGeom prst="rect">
            <a:avLst/>
          </a:prstGeom>
        </p:spPr>
      </p:pic>
      <p:pic>
        <p:nvPicPr>
          <p:cNvPr id="10" name="Picture 9">
            <a:extLst>
              <a:ext uri="{FF2B5EF4-FFF2-40B4-BE49-F238E27FC236}">
                <a16:creationId xmlns:a16="http://schemas.microsoft.com/office/drawing/2014/main" id="{9489490B-7E44-B954-17BC-661A96C85430}"/>
              </a:ext>
            </a:extLst>
          </p:cNvPr>
          <p:cNvPicPr>
            <a:picLocks noChangeAspect="1"/>
          </p:cNvPicPr>
          <p:nvPr/>
        </p:nvPicPr>
        <p:blipFill>
          <a:blip r:embed="rId6"/>
          <a:stretch>
            <a:fillRect/>
          </a:stretch>
        </p:blipFill>
        <p:spPr>
          <a:xfrm>
            <a:off x="6173694" y="2567712"/>
            <a:ext cx="5488841" cy="3592456"/>
          </a:xfrm>
          <a:prstGeom prst="rect">
            <a:avLst/>
          </a:prstGeom>
        </p:spPr>
      </p:pic>
      <p:pic>
        <p:nvPicPr>
          <p:cNvPr id="14" name="Picture 13">
            <a:extLst>
              <a:ext uri="{FF2B5EF4-FFF2-40B4-BE49-F238E27FC236}">
                <a16:creationId xmlns:a16="http://schemas.microsoft.com/office/drawing/2014/main" id="{7BE35F56-F484-A63C-2E87-77BF1A889543}"/>
              </a:ext>
            </a:extLst>
          </p:cNvPr>
          <p:cNvPicPr>
            <a:picLocks noChangeAspect="1"/>
          </p:cNvPicPr>
          <p:nvPr/>
        </p:nvPicPr>
        <p:blipFill>
          <a:blip r:embed="rId7"/>
          <a:stretch>
            <a:fillRect/>
          </a:stretch>
        </p:blipFill>
        <p:spPr>
          <a:xfrm>
            <a:off x="6173694" y="1462755"/>
            <a:ext cx="5436748" cy="1104957"/>
          </a:xfrm>
          <a:prstGeom prst="rect">
            <a:avLst/>
          </a:prstGeom>
        </p:spPr>
      </p:pic>
    </p:spTree>
    <p:extLst>
      <p:ext uri="{BB962C8B-B14F-4D97-AF65-F5344CB8AC3E}">
        <p14:creationId xmlns:p14="http://schemas.microsoft.com/office/powerpoint/2010/main" val="365115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DC19A-6FA0-DACF-5C4F-FCBC0429BD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A9ED0D9-314F-0F7C-7756-0A2178B6C56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33EFA77-2CA1-17F7-F609-ABA95224E31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6788119-C488-083D-0A64-D96566DFB73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5A160FB-E200-B3E5-9CBC-22BBFDE9D90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6408EF78-CCEA-FAD1-3AA7-320724DD69BA}"/>
              </a:ext>
            </a:extLst>
          </p:cNvPr>
          <p:cNvSpPr txBox="1">
            <a:spLocks/>
          </p:cNvSpPr>
          <p:nvPr/>
        </p:nvSpPr>
        <p:spPr>
          <a:xfrm>
            <a:off x="422960" y="6056421"/>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GitHub Link</a:t>
            </a:r>
            <a:endParaRPr lang="en-IN" b="0" u="sng" dirty="0">
              <a:solidFill>
                <a:srgbClr val="0070C0"/>
              </a:solidFill>
            </a:endParaRPr>
          </a:p>
        </p:txBody>
      </p:sp>
      <p:pic>
        <p:nvPicPr>
          <p:cNvPr id="2" name="Picture 1">
            <a:extLst>
              <a:ext uri="{FF2B5EF4-FFF2-40B4-BE49-F238E27FC236}">
                <a16:creationId xmlns:a16="http://schemas.microsoft.com/office/drawing/2014/main" id="{2092C7CB-DD85-B4B9-F328-804235B8CCD6}"/>
              </a:ext>
            </a:extLst>
          </p:cNvPr>
          <p:cNvPicPr>
            <a:picLocks noChangeAspect="1"/>
          </p:cNvPicPr>
          <p:nvPr/>
        </p:nvPicPr>
        <p:blipFill>
          <a:blip r:embed="rId4"/>
          <a:stretch>
            <a:fillRect/>
          </a:stretch>
        </p:blipFill>
        <p:spPr>
          <a:xfrm>
            <a:off x="320982" y="1082078"/>
            <a:ext cx="4395397" cy="2662149"/>
          </a:xfrm>
          <a:prstGeom prst="rect">
            <a:avLst/>
          </a:prstGeom>
        </p:spPr>
      </p:pic>
      <p:pic>
        <p:nvPicPr>
          <p:cNvPr id="10" name="Picture 9">
            <a:extLst>
              <a:ext uri="{FF2B5EF4-FFF2-40B4-BE49-F238E27FC236}">
                <a16:creationId xmlns:a16="http://schemas.microsoft.com/office/drawing/2014/main" id="{35FA65DA-7471-EA6E-AB28-20418B2B9FED}"/>
              </a:ext>
            </a:extLst>
          </p:cNvPr>
          <p:cNvPicPr>
            <a:picLocks noChangeAspect="1"/>
          </p:cNvPicPr>
          <p:nvPr/>
        </p:nvPicPr>
        <p:blipFill>
          <a:blip r:embed="rId5"/>
          <a:stretch>
            <a:fillRect/>
          </a:stretch>
        </p:blipFill>
        <p:spPr>
          <a:xfrm>
            <a:off x="4993761" y="1201586"/>
            <a:ext cx="2305259" cy="3591795"/>
          </a:xfrm>
          <a:prstGeom prst="rect">
            <a:avLst/>
          </a:prstGeom>
        </p:spPr>
      </p:pic>
      <p:pic>
        <p:nvPicPr>
          <p:cNvPr id="12" name="Picture 11">
            <a:extLst>
              <a:ext uri="{FF2B5EF4-FFF2-40B4-BE49-F238E27FC236}">
                <a16:creationId xmlns:a16="http://schemas.microsoft.com/office/drawing/2014/main" id="{812EF4F2-F16F-BFA6-BDCB-C20BDDCE55C0}"/>
              </a:ext>
            </a:extLst>
          </p:cNvPr>
          <p:cNvPicPr>
            <a:picLocks noChangeAspect="1"/>
          </p:cNvPicPr>
          <p:nvPr/>
        </p:nvPicPr>
        <p:blipFill>
          <a:blip r:embed="rId6"/>
          <a:stretch>
            <a:fillRect/>
          </a:stretch>
        </p:blipFill>
        <p:spPr>
          <a:xfrm>
            <a:off x="7533843" y="3377833"/>
            <a:ext cx="4449609" cy="3094086"/>
          </a:xfrm>
          <a:prstGeom prst="rect">
            <a:avLst/>
          </a:prstGeom>
        </p:spPr>
      </p:pic>
      <p:pic>
        <p:nvPicPr>
          <p:cNvPr id="16" name="Picture 15">
            <a:extLst>
              <a:ext uri="{FF2B5EF4-FFF2-40B4-BE49-F238E27FC236}">
                <a16:creationId xmlns:a16="http://schemas.microsoft.com/office/drawing/2014/main" id="{0E3D7078-83C3-0454-4C79-75D7480032F4}"/>
              </a:ext>
            </a:extLst>
          </p:cNvPr>
          <p:cNvPicPr>
            <a:picLocks noChangeAspect="1"/>
          </p:cNvPicPr>
          <p:nvPr/>
        </p:nvPicPr>
        <p:blipFill>
          <a:blip r:embed="rId7"/>
          <a:stretch>
            <a:fillRect/>
          </a:stretch>
        </p:blipFill>
        <p:spPr>
          <a:xfrm>
            <a:off x="7665938" y="1275371"/>
            <a:ext cx="4317514" cy="1888958"/>
          </a:xfrm>
          <a:prstGeom prst="rect">
            <a:avLst/>
          </a:prstGeom>
        </p:spPr>
      </p:pic>
      <p:pic>
        <p:nvPicPr>
          <p:cNvPr id="17" name="Picture 16">
            <a:extLst>
              <a:ext uri="{FF2B5EF4-FFF2-40B4-BE49-F238E27FC236}">
                <a16:creationId xmlns:a16="http://schemas.microsoft.com/office/drawing/2014/main" id="{9A50B92B-3BEF-0123-ED62-8B289003BE3B}"/>
              </a:ext>
            </a:extLst>
          </p:cNvPr>
          <p:cNvPicPr>
            <a:picLocks noChangeAspect="1"/>
          </p:cNvPicPr>
          <p:nvPr/>
        </p:nvPicPr>
        <p:blipFill>
          <a:blip r:embed="rId8"/>
          <a:stretch>
            <a:fillRect/>
          </a:stretch>
        </p:blipFill>
        <p:spPr>
          <a:xfrm>
            <a:off x="320982" y="3911977"/>
            <a:ext cx="4572000" cy="2450322"/>
          </a:xfrm>
          <a:prstGeom prst="rect">
            <a:avLst/>
          </a:prstGeom>
        </p:spPr>
      </p:pic>
      <p:pic>
        <p:nvPicPr>
          <p:cNvPr id="19" name="Picture 18">
            <a:extLst>
              <a:ext uri="{FF2B5EF4-FFF2-40B4-BE49-F238E27FC236}">
                <a16:creationId xmlns:a16="http://schemas.microsoft.com/office/drawing/2014/main" id="{53551EB7-A48B-0AEB-F74E-D2A30B931A36}"/>
              </a:ext>
            </a:extLst>
          </p:cNvPr>
          <p:cNvPicPr>
            <a:picLocks noChangeAspect="1"/>
          </p:cNvPicPr>
          <p:nvPr/>
        </p:nvPicPr>
        <p:blipFill>
          <a:blip r:embed="rId9"/>
          <a:stretch>
            <a:fillRect/>
          </a:stretch>
        </p:blipFill>
        <p:spPr>
          <a:xfrm>
            <a:off x="4968862" y="4916552"/>
            <a:ext cx="2464203" cy="1162868"/>
          </a:xfrm>
          <a:prstGeom prst="rect">
            <a:avLst/>
          </a:prstGeom>
        </p:spPr>
      </p:pic>
    </p:spTree>
    <p:extLst>
      <p:ext uri="{BB962C8B-B14F-4D97-AF65-F5344CB8AC3E}">
        <p14:creationId xmlns:p14="http://schemas.microsoft.com/office/powerpoint/2010/main" val="341712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727865" y="2216075"/>
            <a:ext cx="4908884" cy="2372624"/>
          </a:xfrm>
        </p:spPr>
        <p:txBody>
          <a:bodyPr>
            <a:noAutofit/>
          </a:bodyPr>
          <a:lstStyle/>
          <a:p>
            <a:r>
              <a:rPr lang="en-US" sz="2800" dirty="0">
                <a:latin typeface="Georgia" panose="02040502050405020303" pitchFamily="18" charset="0"/>
              </a:rPr>
              <a:t>Healthcare Analytics for Doctor Visits</a:t>
            </a:r>
            <a:endParaRPr lang="en-IN" sz="2800" dirty="0">
              <a:latin typeface="Georgia" panose="02040502050405020303" pitchFamily="18" charset="0"/>
            </a:endParaRPr>
          </a:p>
          <a:p>
            <a:r>
              <a:rPr lang="en-IN" sz="2800" dirty="0"/>
              <a:t>By</a:t>
            </a:r>
            <a:br>
              <a:rPr lang="en-IN" sz="2800" dirty="0"/>
            </a:br>
            <a:r>
              <a:rPr lang="en-IN" sz="2800" dirty="0"/>
              <a:t>Abhijit Bhattacharjya</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631</TotalTime>
  <Words>282</Words>
  <Application>Microsoft Office PowerPoint</Application>
  <PresentationFormat>Widescreen</PresentationFormat>
  <Paragraphs>45</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Georgia</vt:lpstr>
      <vt:lpstr>Trebuchet MS</vt:lpstr>
      <vt:lpstr>Wingdings</vt:lpstr>
      <vt:lpstr>Wingdings 3</vt:lpstr>
      <vt:lpstr>Facet</vt:lpstr>
      <vt:lpstr>Project Title - Healthcare Analytics for Doctor Visits</vt:lpstr>
      <vt:lpstr>PROBLEM  STATEMENT</vt:lpstr>
      <vt:lpstr>Project Description </vt:lpstr>
      <vt:lpstr>WHO ARE THE END USERS?</vt:lpstr>
      <vt:lpstr>Technology Used</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Abhijit Bhattacharjya</cp:lastModifiedBy>
  <cp:revision>76</cp:revision>
  <dcterms:created xsi:type="dcterms:W3CDTF">2021-07-11T13:13:15Z</dcterms:created>
  <dcterms:modified xsi:type="dcterms:W3CDTF">2026-09-22T16:25:26Z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